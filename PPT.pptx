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i="0">
                <a:latin typeface="Arial"/>
              </a:defRPr>
            </a:pPr>
            <a:r>
              <a:t>* Logistic Regression</a:t>
            </a:r>
          </a:p>
        </p:txBody>
      </p:sp>
      <p:sp>
        <p:nvSpPr>
          <p:cNvPr id="3" name="Content Placeholder 2"/>
          <p:cNvSpPr>
            <a:spLocks noGrp="1"/>
          </p:cNvSpPr>
          <p:nvPr>
            <p:ph idx="1"/>
          </p:nvPr>
        </p:nvSpPr>
        <p:spPr/>
        <p:txBody>
          <a:bodyPr/>
          <a:lstStyle/>
          <a:p>
            <a:pPr>
              <a:defRPr sz="1600" b="0" i="0">
                <a:latin typeface="Arial"/>
              </a:defRPr>
            </a:pPr>
            <a:r>
              <a:t>It employs the sigmoid function to map linear predictions to probabilities, making it suitable for binary classification problems. Its interpretability and efficiency make it a widely used tool in various fields. Logistic Regression can be extended to handle multi-class classification problems via techniques like One-vs-Rest or Softmax Regression. Regularization techniques like L1 and L2 are often used to prevent overfitting and improve model generalization. Evaluation metrics like accuracy, precision, recall, and F1-score are used to assess model performance. Its simplicity and computational efficiency make it a good starting point for classification tasks. Proper feature scaling and handling of multicollinearity are important considerations during implementation. Finally, its statistical foundation and ease of interpretation contribute to its continued relevance in modern machine learning.</a:t>
            </a:r>
          </a:p>
          <a:p>
            <a:pPr>
              <a:defRPr sz="1600" b="0" i="0">
                <a:latin typeface="Arial"/>
              </a:defRPr>
            </a:pPr>
            <a:r>
              <a:t>**Points:**</a:t>
            </a:r>
          </a:p>
          <a:p>
            <a:pPr>
              <a:defRPr sz="1600" b="0" i="0">
                <a:latin typeface="Arial"/>
              </a:defRPr>
            </a:pPr>
            <a:r>
              <a:t>**Core Principle: Predicting Probabilities:** Logistic Regression's primary goal is to predict the probability of a binary outcome (0 or 1, True or False, etc.). It estimates the relationship between the independent variables (features) and the probability of a particular outcome. This contrasts with linear regression, which predicts continuous values. The output of logistic regression is interpreted as the probability of the input belonging to the positive class (typically labeled as 1). For example, in a credit risk assessment, it predicts the probability of a customer defaulting on a loan. This probabilistic nature is crucial for decision-making where understanding the likelihood of an event is essential. It allows for setting thresholds to classify instances based on the desired balance between precision and recall.</a:t>
            </a:r>
          </a:p>
          <a:p>
            <a:pPr>
              <a:defRPr sz="1600" b="0" i="0">
                <a:latin typeface="Arial"/>
              </a:defRPr>
            </a:pPr>
            <a:r>
              <a:t>**The Sigmoid (Logistic) Function:** The heart of Logistic Regression lies in the sigmoid function (also known as the logistic function). This function takes any real-valued number as input and transforms it into a value between 0 and The sigmoid function is defined as:  `σ(z) = 1 / (1 + e^(-z))`.  The 'z' in the equation represents the linear combination of input features and their corresponding weights (similar to linear regression):  `z = w1x1 + w2x2 + ... + wn*xn + b` where `w` represents the weights, `x` represents the features, and `b` represents the bias (intercept). The sigmoid function ensures that the output is always a valid probability, which is a key requirement for classification tasks. The curve of the sigmoid is s-shaped, smoothly transitioning between 0 and 1, allowing for gradient-based optimization during training.</a:t>
            </a:r>
          </a:p>
          <a:p>
            <a:pPr>
              <a:defRPr sz="1600" b="0" i="0">
                <a:latin typeface="Arial"/>
              </a:defRPr>
            </a:pPr>
            <a:r>
              <a:t>**Model Training: Maximum Likelihood Estimation (MLE):** The model learns the optimal weights (coefficients) by maximizing the likelihood of observing the given training data. This is achieved through a process called Maximum Likelihood Estimation (MLE).  The likelihood function calculates the probability of observing the actual outcomes in the training data given the model's parameters (weights and bias). The goal is to find the parameter values that maximize this likelihood. In practice, it's often easier to minimize the negative log-likelihood (also known as the cross-entropy loss) rather than maximize the likelihood directly. Gradient Descent (or its variants like Stochastic Gradient Descent, Adam, etc.) is a common optimization algorithm used to find the weights that minimize the loss function. This iterative process adjusts the weights based on the gradient of the loss function until a minimum is reached.</a:t>
            </a:r>
          </a:p>
          <a:p>
            <a:pPr>
              <a:defRPr sz="1600" b="0" i="0">
                <a:latin typeface="Arial"/>
              </a:defRPr>
            </a:pPr>
            <a:r>
              <a:t>**Decision Boundary: Thresholding the Probability:** After the model is trained, it predicts the probability of an instance belonging to a specific class. To make a final classification decision (e.g., "spam" or "not spam"), a decision threshold is applied.  Typically, a threshold of 0.5 is used. If the predicted probability is greater than or equal to 0.5, the instance is classified as belonging to the positive class (1); otherwise, it's classified as belonging to the negative class (0). However, the optimal threshold can be adjusted based on the specific application and the desired trade-off between precision and recall. For instance, in medical diagnosis, a lower threshold might be used to increase sensitivity (recall) and minimize the risk of false negatives (missing a disease).  The decision boundary represents the line (in 2D) or hyperplane (in higher dimensions) where the predicted probability equals the decision threshold (typically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i="0">
                <a:latin typeface="Arial"/>
              </a:defRPr>
            </a:pPr>
            <a:r>
              <a:t>* Logistic Regression</a:t>
            </a:r>
          </a:p>
        </p:txBody>
      </p:sp>
      <p:sp>
        <p:nvSpPr>
          <p:cNvPr id="3" name="Content Placeholder 2"/>
          <p:cNvSpPr>
            <a:spLocks noGrp="1"/>
          </p:cNvSpPr>
          <p:nvPr>
            <p:ph idx="1"/>
          </p:nvPr>
        </p:nvSpPr>
        <p:spPr/>
        <p:txBody>
          <a:bodyPr/>
          <a:lstStyle/>
          <a:p>
            <a:pPr>
              <a:defRPr sz="1600" b="0" i="0">
                <a:latin typeface="Arial"/>
              </a:defRPr>
            </a:pPr>
            <a:r>
              <a:t>**Assumptions and Limitations:** Logistic Regression, like other statistical models, relies on certain assumptions. It assumes a linear relationship between the independent variables and the log-odds of the dependent variable (the logit). It also assumes independence of errors and little to no multicollinearity among the independent variables. Violations of these assumptions can affect the model's accuracy and reliability. Furthermore, Logistic Regression can struggle with complex, non-linear relationships between features and the target variable. In such cases, more sophisticated models like Support Vector Machines (SVMs) or Neural Networks may be more appropriate. Feature engineering and transformations can sometimes mitigate these limitations.</a:t>
            </a:r>
          </a:p>
          <a:p>
            <a:pPr>
              <a:defRPr sz="1600" b="0" i="0">
                <a:latin typeface="Arial"/>
              </a:defRPr>
            </a:pPr>
            <a:r>
              <a:t>**Regularization Techniques (L1 and L2):** Overfitting, where the model performs well on the training data but poorly on unseen data, is a common problem in machine learning.  Regularization techniques are used to prevent overfitting by adding a penalty term to the loss function.  L1 regularization (Lasso) adds a penalty proportional to the absolute value of the weights, which can lead to sparse models (some weights become exactly zero), effectively performing feature selection. L2 regularization (Ridge) adds a penalty proportional to the square of the weights, shrinking the weights towards zero but rarely setting them exactly to zero. The strength of the regularization is controlled by a hyperparameter (e.g., lambda or alpha), which needs to be tuned using techniques like cross-validation. Choosing the appropriate regularization technique and its strength depends on the specific dataset and the desired trade-off between model complexity and performance.</a:t>
            </a:r>
          </a:p>
          <a:p>
            <a:pPr>
              <a:defRPr sz="1600" b="0" i="0">
                <a:latin typeface="Arial"/>
              </a:defRPr>
            </a:pPr>
            <a:r>
              <a:t>**Multi-Class Logistic Regression:** While the standard Logistic Regression is designed for binary classification, it can be extended to handle multi-class problems (more than two classes). Two common approaches for multi-class logistic regression are: 1) **One-vs-Rest (OvR) or One-vs-All (OvA):** This approach trains a separate Logistic Regression model for each class. Each model is trained to distinguish one class from all the other classes. During prediction, the model with the highest predicted probability is chosen. 2) **Multinomial Logistic Regression (Softmax Regression):** This approach directly models the probability of each class using the Softmax function. The Softmax function generalizes the sigmoid function to multiple classes, ensuring that the probabilities for all classes sum up to Multinomial Logistic Regression is often preferred when the classes are mutually exclusive and collectively exhaustive.</a:t>
            </a:r>
          </a:p>
          <a:p>
            <a:pPr>
              <a:defRPr sz="1600" b="0" i="0">
                <a:latin typeface="Arial"/>
              </a:defRPr>
            </a:pPr>
            <a:r>
              <a:t>**Evaluation Metrics:** Assessing the performance of a Logistic Regression model requires appropriate evaluation metrics. Accuracy (the proportion of correctly classified instances) is a common metric, but it can be misleading in imbalanced datasets (where one class is significantly more frequent than the other). Other useful metrics include: **Precision:** The proportion of correctly predicted positive instances out of all instances predicted as positive. **Recall:** The proportion of correctly predicted positive instances out of all actual positive instances. **F1-score:** The harmonic mean of precision and recall, providing a balanced measure of performance. **Area Under the ROC Curve (AUC-ROC):**  Measures the ability of the model to distinguish between the positive and negative classes, regardless of the chosen threshold.  The choice of evaluation metric depends on the specific application and the relative importance of different types of errors (false positives vs. false negatives).</a:t>
            </a:r>
          </a:p>
          <a:p>
            <a:pPr>
              <a:defRPr sz="1600" b="0" i="0">
                <a:latin typeface="Arial"/>
              </a:defRPr>
            </a:pPr>
            <a:r>
              <a:t>**Feature Engineering and Preprocessing:** The performance of Logistic Regression is highly dependent on the quality of the input features. Feature engineering involves creating new features from existing ones to improve the model's ability to learn.  For example, combining multiple features into a single interaction term can capture non-linear relationships. Feature scaling (e.g., standardization or normalization) is often necessary to ensure that features with different ranges do not disproportionately influence the model's weights. Handling missing values is also a crucial preprocessing step. Categorical features need to be encoded into numerical representations using techniques like one-hot encoding or label encoding. Careful feature engineering and preprocessing can significantly improve the accuracy and robustness of the Logistic Regression model.</a:t>
            </a:r>
          </a:p>
          <a:p>
            <a:pPr>
              <a:defRPr sz="1600" b="0" i="0">
                <a:latin typeface="Arial"/>
              </a:defRPr>
            </a:pPr>
            <a:r>
              <a:t>**Interpretability and Applications:** Logistic Regression is known for its interpretability. The coefficients (weights) of the model can be directly interpreted as the change in the log-odds of the outcome variable for a one-unit change in the corresponding predictor variable, holding all other variables constant. This allows for understanding the influence of each feature on the predicted probability. Logistic Regression is widely used in various fields, including: **Healthcare:** Predicting disease risk, diagnosing illnesses. **Finance:** Credit risk assessment, fraud detection. **Marketing:** Predicting customer churn, targeted advertising. **Social Sciences:** Analyzing survey data, understanding voting behavior. Its simplicity, interpretability, and computational efficiency make it a valuable tool for classification tasks in many domains.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b="1" i="0">
                <a:latin typeface="Arial"/>
              </a:defRPr>
            </a:pPr>
            <a:r>
              <a:t>Code Snippet For * Logistic Regression</a:t>
            </a:r>
          </a:p>
        </p:txBody>
      </p:sp>
      <p:sp>
        <p:nvSpPr>
          <p:cNvPr id="3" name="Content Placeholder 2"/>
          <p:cNvSpPr>
            <a:spLocks noGrp="1"/>
          </p:cNvSpPr>
          <p:nvPr>
            <p:ph idx="1"/>
          </p:nvPr>
        </p:nvSpPr>
        <p:spPr/>
        <p:txBody>
          <a:bodyPr/>
          <a:lstStyle/>
          <a:p>
            <a:pPr>
              <a:defRPr sz="1600" b="0" i="0">
                <a:latin typeface="Arial"/>
              </a:defRPr>
            </a:pPr>
          </a:p>
          <a:p>
            <a:pPr>
              <a:defRPr sz="1600" b="0" i="0">
                <a:latin typeface="Arial"/>
              </a:defRPr>
            </a:pPr>
            <a:r>
              <a:t>from sklearn.linear_model import LogisticRegression</a:t>
            </a:r>
          </a:p>
          <a:p>
            <a:pPr>
              <a:defRPr sz="1600" b="0" i="0">
                <a:latin typeface="Arial"/>
              </a:defRPr>
            </a:pPr>
            <a:r>
              <a:t>from sklearn.model_selection import train_test_split</a:t>
            </a:r>
          </a:p>
          <a:p>
            <a:pPr>
              <a:defRPr sz="1600" b="0" i="0">
                <a:latin typeface="Arial"/>
              </a:defRPr>
            </a:pPr>
            <a:r>
              <a:t>from sklearn.metrics import accuracy_score</a:t>
            </a:r>
          </a:p>
          <a:p>
            <a:pPr>
              <a:defRPr sz="1600" b="0" i="0">
                <a:latin typeface="Arial"/>
              </a:defRPr>
            </a:pPr>
            <a:r>
              <a:t>import numpy as np</a:t>
            </a:r>
          </a:p>
          <a:p>
            <a:pPr>
              <a:defRPr sz="1600" b="0" i="0">
                <a:latin typeface="Arial"/>
              </a:defRPr>
            </a:pPr>
          </a:p>
          <a:p>
            <a:pPr>
              <a:defRPr sz="1600" b="0" i="0">
                <a:latin typeface="Arial"/>
              </a:defRPr>
            </a:pPr>
            <a:r>
              <a:t>X = np.array([[1, 2], [3, 4], [5, 6], [7, 8]])</a:t>
            </a:r>
          </a:p>
          <a:p>
            <a:pPr>
              <a:defRPr sz="1600" b="0" i="0">
                <a:latin typeface="Arial"/>
              </a:defRPr>
            </a:pPr>
            <a:r>
              <a:t>y = np.array([0, 0, 1, 1])</a:t>
            </a:r>
          </a:p>
          <a:p>
            <a:pPr>
              <a:defRPr sz="1600" b="0" i="0">
                <a:latin typeface="Arial"/>
              </a:defRPr>
            </a:pPr>
          </a:p>
          <a:p>
            <a:pPr>
              <a:defRPr sz="1600" b="0" i="0">
                <a:latin typeface="Arial"/>
              </a:defRPr>
            </a:pPr>
            <a:r>
              <a:t>X_train, X_test, y_train, y_test = train_test_split(X, y, test_size=0.25, random_state=42)</a:t>
            </a:r>
          </a:p>
          <a:p>
            <a:pPr>
              <a:defRPr sz="1600" b="0" i="0">
                <a:latin typeface="Arial"/>
              </a:defRPr>
            </a:pPr>
          </a:p>
          <a:p>
            <a:pPr>
              <a:defRPr sz="1600" b="0" i="0">
                <a:latin typeface="Arial"/>
              </a:defRPr>
            </a:pPr>
            <a:r>
              <a:t>model = LogisticRegression()</a:t>
            </a:r>
          </a:p>
          <a:p>
            <a:pPr>
              <a:defRPr sz="1600" b="0" i="0">
                <a:latin typeface="Arial"/>
              </a:defRPr>
            </a:pPr>
            <a:r>
              <a:t>model.fit(X_train, y_train)</a:t>
            </a:r>
          </a:p>
          <a:p>
            <a:pPr>
              <a:defRPr sz="1600" b="0" i="0">
                <a:latin typeface="Arial"/>
              </a:defRPr>
            </a:pPr>
          </a:p>
          <a:p>
            <a:pPr>
              <a:defRPr sz="1600" b="0" i="0">
                <a:latin typeface="Arial"/>
              </a:defRPr>
            </a:pPr>
            <a:r>
              <a:t>y_pred = model.predict(X_test)</a:t>
            </a:r>
          </a:p>
          <a:p>
            <a:pPr>
              <a:defRPr sz="1600" b="0" i="0">
                <a:latin typeface="Arial"/>
              </a:defRPr>
            </a:pPr>
            <a:r>
              <a:t>accuracy = accuracy_score(y_test, y_pred)</a:t>
            </a:r>
          </a:p>
          <a:p>
            <a:pPr>
              <a:defRPr sz="1600" b="0" i="0">
                <a:latin typeface="Arial"/>
              </a:defRPr>
            </a:pPr>
          </a:p>
          <a:p>
            <a:pPr>
              <a:defRPr sz="1600" b="0" i="0">
                <a:latin typeface="Arial"/>
              </a:defRPr>
            </a:pPr>
            <a:r>
              <a:t>print(f"Accuracy: {accuracy}")</a:t>
            </a:r>
          </a:p>
          <a:p>
            <a:pPr>
              <a:defRPr sz="1600" b="0" i="0">
                <a:latin typeface="Arial"/>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